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3985"/>
          </a:solidFill>
          <a:ln>
            <a:solidFill>
              <a:srgbClr val="4F3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b-life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320040"/>
            <a:ext cx="960120" cy="3909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10896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6279"/>
                </a:solidFill>
                <a:latin typeface="Aptos"/>
              </a:rPr>
              <a:t>AIB LIFE  /  SCHEDULE 23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76279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3985"/>
                </a:solidFill>
                <a:latin typeface="Aptos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81A39"/>
                </a:solidFill>
                <a:latin typeface="Aptos"/>
              </a:rPr>
              <a:t>Monthly SLA governance is slow, fragmented and difficult to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56231"/>
            <a:ext cx="10424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76279"/>
                </a:solidFill>
                <a:latin typeface="Aptos"/>
              </a:rPr>
              <a:t>Schedule 23 performance must be reconstructed from multiple BaNCS extracts and complex business-day rules.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60604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D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83464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F3985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246120"/>
            <a:ext cx="2834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81A39"/>
                </a:solidFill>
                <a:latin typeface="Aptos"/>
              </a:rPr>
              <a:t>Fragmented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730752"/>
            <a:ext cx="2788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76279"/>
                </a:solidFill>
                <a:latin typeface="Aptos"/>
              </a:rPr>
              <a:t>Five extract slots across EBQ, cancellations, withdrawals and open/closed workflows.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60604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D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283464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F3985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246120"/>
            <a:ext cx="2834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81A39"/>
                </a:solidFill>
                <a:latin typeface="Aptos"/>
              </a:rPr>
              <a:t>Complex measurement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3730752"/>
            <a:ext cx="2788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76279"/>
                </a:solidFill>
                <a:latin typeface="Aptos"/>
              </a:rPr>
              <a:t>Different targets, cut-offs, holidays, workflow matching and reporting-month rules.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260604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D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283464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F3985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3246120"/>
            <a:ext cx="2834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81A39"/>
                </a:solidFill>
                <a:latin typeface="Aptos"/>
              </a:rPr>
              <a:t>Weak auditability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3730752"/>
            <a:ext cx="2788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76279"/>
                </a:solidFill>
                <a:latin typeface="Aptos"/>
              </a:rPr>
              <a:t>Manual summaries make it hard to trace a result back to the exact source record.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010912"/>
            <a:ext cx="10972800" cy="841248"/>
          </a:xfrm>
          <a:prstGeom prst="roundRect">
            <a:avLst/>
          </a:prstGeom>
          <a:solidFill>
            <a:srgbClr val="181A39"/>
          </a:solidFill>
          <a:ln>
            <a:solidFill>
              <a:srgbClr val="181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248656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EB4DF"/>
                </a:solidFill>
                <a:latin typeface="Aptos"/>
              </a:rPr>
              <a:t>BUSINESS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4288" y="5193792"/>
            <a:ext cx="8823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Delayed governance packs  •  inconsistent interpretation  •  limited confidence in reported figures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3985"/>
          </a:solidFill>
          <a:ln>
            <a:solidFill>
              <a:srgbClr val="4F3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b-life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320040"/>
            <a:ext cx="960120" cy="3909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10896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6279"/>
                </a:solidFill>
                <a:latin typeface="Aptos"/>
              </a:rPr>
              <a:t>AIB LIFE  /  SCHEDULE 23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76279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3985"/>
                </a:solidFill>
                <a:latin typeface="Aptos"/>
              </a:rPr>
              <a:t>IMPLEMENTED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81A39"/>
                </a:solidFill>
                <a:latin typeface="Aptos"/>
              </a:rPr>
              <a:t>One traceable pipeline from raw extracts to governance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56231"/>
            <a:ext cx="10424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76279"/>
                </a:solidFill>
                <a:latin typeface="Aptos"/>
              </a:rPr>
              <a:t>The application calculates every SLA result, builds monthly packs and explains performance across the full history.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487168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D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" y="2670048"/>
            <a:ext cx="384048" cy="384048"/>
          </a:xfrm>
          <a:prstGeom prst="roundRect">
            <a:avLst/>
          </a:prstGeom>
          <a:solidFill>
            <a:srgbClr val="4F3985"/>
          </a:solidFill>
          <a:ln>
            <a:solidFill>
              <a:srgbClr val="4F3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679192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2670048"/>
            <a:ext cx="14173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F3985"/>
                </a:solidFill>
                <a:latin typeface="Aptos"/>
              </a:rPr>
              <a:t>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136392"/>
            <a:ext cx="1874519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A39"/>
                </a:solidFill>
                <a:latin typeface="Aptos"/>
              </a:rPr>
              <a:t>CSV / XLSX
extract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2944368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4F3985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79" y="2487168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D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47872" y="2670048"/>
            <a:ext cx="384048" cy="384048"/>
          </a:xfrm>
          <a:prstGeom prst="roundRect">
            <a:avLst/>
          </a:prstGeom>
          <a:solidFill>
            <a:srgbClr val="4F3985"/>
          </a:solidFill>
          <a:ln>
            <a:solidFill>
              <a:srgbClr val="4F3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679192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1648" y="2670048"/>
            <a:ext cx="14173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F3985"/>
                </a:solidFill>
                <a:latin typeface="Aptos"/>
              </a:rPr>
              <a:t>CALCULATE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4448" y="3136392"/>
            <a:ext cx="1874519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A39"/>
                </a:solidFill>
                <a:latin typeface="Aptos"/>
              </a:rPr>
              <a:t>Schedule 23
rules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2431" y="2944368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4F3985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87168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D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36792" y="2670048"/>
            <a:ext cx="384048" cy="384048"/>
          </a:xfrm>
          <a:prstGeom prst="roundRect">
            <a:avLst/>
          </a:prstGeom>
          <a:solidFill>
            <a:srgbClr val="4F3985"/>
          </a:solidFill>
          <a:ln>
            <a:solidFill>
              <a:srgbClr val="4F3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679192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2670048"/>
            <a:ext cx="14173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F3985"/>
                </a:solidFill>
                <a:latin typeface="Aptos"/>
              </a:rPr>
              <a:t>GOVERN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136392"/>
            <a:ext cx="1874519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A39"/>
                </a:solidFill>
                <a:latin typeface="Aptos"/>
              </a:rPr>
              <a:t>Monthly packs
&amp; exceptions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1352" y="2944368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4F3985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19" y="2487168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D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25711" y="2670048"/>
            <a:ext cx="384048" cy="384048"/>
          </a:xfrm>
          <a:prstGeom prst="roundRect">
            <a:avLst/>
          </a:prstGeom>
          <a:solidFill>
            <a:srgbClr val="4F3985"/>
          </a:solidFill>
          <a:ln>
            <a:solidFill>
              <a:srgbClr val="4F3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25711" y="2679192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9488" y="2670048"/>
            <a:ext cx="14173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F3985"/>
                </a:solidFill>
                <a:latin typeface="Aptos"/>
              </a:rPr>
              <a:t>UNDERSTAND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3136392"/>
            <a:ext cx="1874519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A39"/>
                </a:solidFill>
                <a:latin typeface="Aptos"/>
              </a:rPr>
              <a:t>Trends, drivers
&amp; guarded 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15968"/>
            <a:ext cx="3429000" cy="1143000"/>
          </a:xfrm>
          <a:prstGeom prst="roundRect">
            <a:avLst/>
          </a:prstGeom>
          <a:solidFill>
            <a:srgbClr val="EDE8F8"/>
          </a:solidFill>
          <a:ln>
            <a:solidFill>
              <a:srgbClr val="ED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" y="4315968"/>
            <a:ext cx="82296" cy="1143000"/>
          </a:xfrm>
          <a:prstGeom prst="rect">
            <a:avLst/>
          </a:prstGeom>
          <a:solidFill>
            <a:srgbClr val="168468"/>
          </a:solidFill>
          <a:ln>
            <a:solidFill>
              <a:srgbClr val="168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51713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A39"/>
                </a:solidFill>
                <a:latin typeface="Aptos"/>
              </a:rPr>
              <a:t>Exact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864608"/>
            <a:ext cx="28163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6279"/>
                </a:solidFill>
                <a:latin typeface="Aptos"/>
              </a:rPr>
              <a:t>0-difference verification against the expected-results workbook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70832" y="4315968"/>
            <a:ext cx="3429000" cy="1143000"/>
          </a:xfrm>
          <a:prstGeom prst="roundRect">
            <a:avLst/>
          </a:prstGeom>
          <a:solidFill>
            <a:srgbClr val="EDE8F8"/>
          </a:solidFill>
          <a:ln>
            <a:solidFill>
              <a:srgbClr val="ED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70832" y="4315968"/>
            <a:ext cx="82296" cy="1143000"/>
          </a:xfrm>
          <a:prstGeom prst="rect">
            <a:avLst/>
          </a:prstGeom>
          <a:solidFill>
            <a:srgbClr val="4F3985"/>
          </a:solidFill>
          <a:ln>
            <a:solidFill>
              <a:srgbClr val="4F3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5152" y="451713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A39"/>
                </a:solidFill>
                <a:latin typeface="Aptos"/>
              </a:rPr>
              <a:t>Traceable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45152" y="4864608"/>
            <a:ext cx="28163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6279"/>
                </a:solidFill>
                <a:latin typeface="Aptos"/>
              </a:rPr>
              <a:t>Drill from every SLA result to its source item and deadline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47304" y="4315968"/>
            <a:ext cx="3429000" cy="1143000"/>
          </a:xfrm>
          <a:prstGeom prst="roundRect">
            <a:avLst/>
          </a:prstGeom>
          <a:solidFill>
            <a:srgbClr val="EDE8F8"/>
          </a:solidFill>
          <a:ln>
            <a:solidFill>
              <a:srgbClr val="ED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47304" y="4315968"/>
            <a:ext cx="82296" cy="1143000"/>
          </a:xfrm>
          <a:prstGeom prst="rect">
            <a:avLst/>
          </a:prstGeom>
          <a:solidFill>
            <a:srgbClr val="BE3D43"/>
          </a:solidFill>
          <a:ln>
            <a:solidFill>
              <a:srgbClr val="BE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21624" y="451713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A39"/>
                </a:solidFill>
                <a:latin typeface="Aptos"/>
              </a:rPr>
              <a:t>Actionable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21624" y="4864608"/>
            <a:ext cx="28163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6279"/>
                </a:solidFill>
                <a:latin typeface="Aptos"/>
              </a:rPr>
              <a:t>Exceptions, backlog, failure drivers and pass/fail trends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5815584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76279"/>
                </a:solidFill>
                <a:latin typeface="Aptos"/>
              </a:rPr>
              <a:t>React + Vite frontend  •  Node.js + Express API  •  deterministic rules engine  •  Amazon Nova Pro with guardrails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3985"/>
          </a:solidFill>
          <a:ln>
            <a:solidFill>
              <a:srgbClr val="4F3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b-life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320040"/>
            <a:ext cx="960120" cy="3909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10896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6279"/>
                </a:solidFill>
                <a:latin typeface="Aptos"/>
              </a:rPr>
              <a:t>AIB LIFE  /  SCHEDULE 23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76279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3985"/>
                </a:solidFill>
                <a:latin typeface="Aptos"/>
              </a:rPr>
              <a:t>PRODUCT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81A39"/>
                </a:solidFill>
                <a:latin typeface="Aptos"/>
              </a:rPr>
              <a:t>See the workflow end to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56231"/>
            <a:ext cx="10424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76279"/>
                </a:solidFill>
                <a:latin typeface="Aptos"/>
              </a:rPr>
              <a:t>Use this slide for the recorded walkthrough of data ingestion, monthly governance and intelligence.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2468880"/>
            <a:ext cx="10332720" cy="3246120"/>
          </a:xfrm>
          <a:prstGeom prst="roundRect">
            <a:avLst/>
          </a:prstGeom>
          <a:solidFill>
            <a:srgbClr val="181A39"/>
          </a:solidFill>
          <a:ln w="19050">
            <a:solidFill>
              <a:srgbClr val="4F3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04104" y="3319272"/>
            <a:ext cx="1371600" cy="13716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9552" y="3547872"/>
            <a:ext cx="1069848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1">
                <a:solidFill>
                  <a:srgbClr val="4F3985"/>
                </a:solidFill>
                <a:latin typeface="Aptos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489204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INSERT PROJECT DEMO 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6007608"/>
            <a:ext cx="8275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76279"/>
                </a:solidFill>
                <a:latin typeface="Aptos"/>
              </a:rPr>
              <a:t>Suggested flow: Extracts  →  Dashboard  →  SLA position  →  Exceptions  → 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